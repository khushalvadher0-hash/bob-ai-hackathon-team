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4000" b="1">
                <a:solidFill>
                  <a:srgbClr val="FFFFFF"/>
                </a:solidFill>
              </a:defRPr>
            </a:pPr>
            <a:r>
              <a:t>Container Congestion Predictor &amp;</a:t>
            </a:r>
            <a:br/>
            <a:r>
              <a:t>Port Operations Optimiser</a:t>
            </a:r>
          </a:p>
          <a:p>
            <a:pPr>
              <a:defRPr sz="1800">
                <a:solidFill>
                  <a:srgbClr val="0096FF"/>
                </a:solidFill>
              </a:defRPr>
            </a:pPr>
            <a:r>
              <a:t>PortOptimizer — AI-Powered Port Congestion Prediction &amp; Operations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C8D6E5"/>
                </a:solidFill>
              </a:defRPr>
            </a:pPr>
            <a:r>
              <a:t>Objective: Predict congestion, optimize port resources, recommend alternate routing, and generate a 72-hour operational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96FF"/>
                </a:solidFill>
              </a:defRPr>
            </a:pPr>
            <a:r>
              <a:t>PROJECT PARTICIPANTS: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Khushal Vadher  •  Darshan Raval  •  Parth Patoliya  •  Jay Rohit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C757D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92F"/>
                </a:solidFill>
              </a:defRPr>
            </a:pPr>
            <a:r>
              <a:t>Technology Stack &amp; Team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A192F"/>
                </a:solidFill>
              </a:defRPr>
            </a:pPr>
            <a:r>
              <a:t>• Machine Learning / AI</a:t>
            </a:r>
          </a:p>
          <a:p>
            <a:pPr>
              <a:spcAft>
                <a:spcPts val="1000"/>
              </a:spcAft>
              <a:defRPr sz="1200">
                <a:solidFill>
                  <a:srgbClr val="6C757D"/>
                </a:solidFill>
              </a:defRPr>
            </a:pPr>
            <a:r>
              <a:t>Python, scikit-learn, Random Forest Classifier, pandas, NumPy, joblib</a:t>
            </a:r>
          </a:p>
          <a:p>
            <a:pPr>
              <a:defRPr sz="1400" b="1">
                <a:solidFill>
                  <a:srgbClr val="0A192F"/>
                </a:solidFill>
              </a:defRPr>
            </a:pPr>
            <a:r>
              <a:t>• Backend</a:t>
            </a:r>
          </a:p>
          <a:p>
            <a:pPr>
              <a:spcAft>
                <a:spcPts val="1000"/>
              </a:spcAft>
              <a:defRPr sz="1200">
                <a:solidFill>
                  <a:srgbClr val="6C757D"/>
                </a:solidFill>
              </a:defRPr>
            </a:pPr>
            <a:r>
              <a:t>Python, FastAPI, Uvicorn, PyMongo</a:t>
            </a:r>
          </a:p>
          <a:p>
            <a:pPr>
              <a:defRPr sz="1400" b="1">
                <a:solidFill>
                  <a:srgbClr val="0A192F"/>
                </a:solidFill>
              </a:defRPr>
            </a:pPr>
            <a:r>
              <a:t>• Database</a:t>
            </a:r>
          </a:p>
          <a:p>
            <a:pPr>
              <a:spcAft>
                <a:spcPts val="1000"/>
              </a:spcAft>
              <a:defRPr sz="1200">
                <a:solidFill>
                  <a:srgbClr val="6C757D"/>
                </a:solidFill>
              </a:defRPr>
            </a:pPr>
            <a:r>
              <a:t>MongoDB Atlas, MongoDB</a:t>
            </a:r>
          </a:p>
          <a:p>
            <a:pPr>
              <a:defRPr sz="1400" b="1">
                <a:solidFill>
                  <a:srgbClr val="0A192F"/>
                </a:solidFill>
              </a:defRPr>
            </a:pPr>
            <a:r>
              <a:t>• Frontend</a:t>
            </a:r>
          </a:p>
          <a:p>
            <a:pPr>
              <a:spcAft>
                <a:spcPts val="1000"/>
              </a:spcAft>
              <a:defRPr sz="1200">
                <a:solidFill>
                  <a:srgbClr val="6C757D"/>
                </a:solidFill>
              </a:defRPr>
            </a:pPr>
            <a:r>
              <a:t>React, Vite, JavaScript, Axios, React Router, Recharts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96FF"/>
                </a:solidFill>
              </a:defRPr>
            </a:pPr>
            <a:r>
              <a:t>• Khushal Vadher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Machine Learning / AI — Congestion prediction model, feature engineering, ML preprocessing, model training/prediction, risk estimation, and operational flow integration.</a:t>
            </a:r>
          </a:p>
          <a:p>
            <a:pPr>
              <a:defRPr sz="1400" b="1">
                <a:solidFill>
                  <a:srgbClr val="0096FF"/>
                </a:solidFill>
              </a:defRPr>
            </a:pPr>
            <a:r>
              <a:t>• Darshan Raval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Backend — FastAPI backend APIs, MongoDB integration, vessel/port data handling, and congestion API integration.</a:t>
            </a:r>
          </a:p>
          <a:p>
            <a:pPr>
              <a:defRPr sz="1400" b="1">
                <a:solidFill>
                  <a:srgbClr val="0096FF"/>
                </a:solidFill>
              </a:defRPr>
            </a:pPr>
            <a:r>
              <a:t>• Parth Patoliya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Backend &amp; Optimization — Routing recommendation backend, berth optimization, crane optimization, 72-hour operations planner, and operational decision logic.</a:t>
            </a:r>
          </a:p>
          <a:p>
            <a:pPr>
              <a:defRPr sz="1400" b="1">
                <a:solidFill>
                  <a:srgbClr val="0096FF"/>
                </a:solidFill>
              </a:defRPr>
            </a:pPr>
            <a:r>
              <a:t>• Jay Rohit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Frontend — React/Vite frontend development, command-centre dashboard, vessel management, congestion visualization, routing/operations/alerts UI, and API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C757D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92F"/>
                </a:solidFill>
              </a:defRPr>
            </a:pPr>
            <a:r>
              <a:t>Port Operations Command Centre 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[Insert Screenshot 1 Here:</a:t>
            </a:r>
            <a:br/>
            <a:r>
              <a:t>Port Operations Command Centre]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Centralized high-level port operations monitoring for shift supervisors.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Real-time tracking of KPIs: Total Fleet Vessels (12 Ships), Congestion Status (HIGH), Berth Availability (3/12 Ready), and Quay Cranes Deployed (36 Deployed).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Terminal Capacity &amp; Utilization Overview covering deepwater and container terminals (e.g., Terminal T1 at 90% Full with Critical Congestion).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AI Decision Engine integration displaying live optimization results and clear explainable AI logic (e.g., why a specific route or terminal bypass is suggested).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C757D"/>
                </a:solidFill>
              </a:defRPr>
            </a:pPr>
            <a:r>
              <a:t>03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50CF55-C24D-1543-D60E-FB3E4E3A55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78"/>
          <a:stretch>
            <a:fillRect/>
          </a:stretch>
        </p:blipFill>
        <p:spPr>
          <a:xfrm>
            <a:off x="438122" y="1371600"/>
            <a:ext cx="5657878" cy="31066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92F"/>
                </a:solidFill>
              </a:defRPr>
            </a:pPr>
            <a:r>
              <a:t>Vessel Fleet &amp; Congestion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[Insert Screenshot 2 Here:</a:t>
            </a:r>
            <a:br/>
            <a:r>
              <a:t>Vessel Fleet Directory]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Comprehensive real-time fleet roster capturing precise vessel name, terminal association, and identification codes.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Granular vessel telemetry tracking ETA/Arrival Time, exact cargo metrics (Size/TEU), and operational status (Approaching, Scheduled, Queued).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Intelligent congestion-driven priority indexing flagging vessels as HIGH, MEDIUM, or LOW priority based on port congestion conditions.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Direct actionable UI controls providing rapid navigation hooks to the Alternate Routing engine per vessel.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C757D"/>
                </a:solidFill>
              </a:defRPr>
            </a:pPr>
            <a:r>
              <a:t>04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6ED39D-C089-B4C2-3477-BD0781B08E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51"/>
          <a:stretch>
            <a:fillRect/>
          </a:stretch>
        </p:blipFill>
        <p:spPr>
          <a:xfrm>
            <a:off x="161545" y="1310153"/>
            <a:ext cx="6239255" cy="34517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92F"/>
                </a:solidFill>
              </a:defRPr>
            </a:pPr>
            <a:r>
              <a:t>Alternate Routing Intelligence &amp; Congestion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[Insert Screenshot 3 Here:</a:t>
            </a:r>
            <a:br/>
            <a:r>
              <a:t>Alternate Routing Intelligence]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Data-driven multi-criteria reroute engine evaluating model confidence, congestion pressure, wait savings ratio, and available target berths.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Quantified operational efficiency gains tracking exact turnaround improvements (e.g., 'Redirect to Terminal T3 saves 21.7 hours idle wait').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Explainable AI framework detailing the math and logic behind recommendations (e.g., mitigating HIGH queue congestion at T1, 81% model confidence).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Ranked alternative comparison matrix presenting primary direct docking options alongside secondary feasibility pathways and current queue delays.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C757D"/>
                </a:solidFill>
              </a:defRPr>
            </a:pPr>
            <a:r>
              <a:t>05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D5D3B9-82D4-EAAA-6D5D-8B14B5C3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41" r="1102"/>
          <a:stretch>
            <a:fillRect/>
          </a:stretch>
        </p:blipFill>
        <p:spPr>
          <a:xfrm>
            <a:off x="414215" y="1262185"/>
            <a:ext cx="5878291" cy="3270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92F"/>
                </a:solidFill>
              </a:defRPr>
            </a:pPr>
            <a:r>
              <a:t>72-Hour Port Operations Master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[Insert Screenshot 4 Here:</a:t>
            </a:r>
            <a:br/>
            <a:r>
              <a:t>72-Hour Port Operations Master Plan]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Predictive scheduling window implementing a non-overlapping greedy scheduler across a 72-hour planning horizon.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Integrated resources dashboard coordinating 10 scheduled vessels, 14,900 TEU throughput forecast, and an average of 2.2 cranes per vessel.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Algorithmic timeline synchronization generating optimal berth numbers, precise crane unit requirements, and structured time slots.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Dynamic re-evaluation tools enabling one-click recalculation of the master plan to absorb unexpected real-time operational shifts.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C757D"/>
                </a:solidFill>
              </a:defRPr>
            </a:pPr>
            <a:r>
              <a:t>06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894ED4-59C7-979A-162D-942B5A720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25"/>
          <a:stretch>
            <a:fillRect/>
          </a:stretch>
        </p:blipFill>
        <p:spPr>
          <a:xfrm>
            <a:off x="289168" y="1175191"/>
            <a:ext cx="6179961" cy="33811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92F"/>
                </a:solidFill>
              </a:defRPr>
            </a:pPr>
            <a:r>
              <a:t>Port Alert &amp; Incident Command Centre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[Insert Screenshot 5 Here:</a:t>
            </a:r>
            <a:br/>
            <a:r>
              <a:t>Port Alert &amp; Incident Command Centre]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Real-time telemetry surveillance isolating critical bottlenecks, extensive vessel queue delays, and equipment anomalies.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Categorized severity tiering distributing system telemetry into Critical (Red), Warning (Yellow), and Normal (Green) diagnostic feeds.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Actionable incident resolution offering direct shortcuts like 'Inspect Cranes' or 'Optimize Cranes' to solve terminal bottlenecks instantly.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Live simulator controls supporting simulated incident broadcasts to pressure-test port resilience and backup optimization pathways.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C757D"/>
                </a:solidFill>
              </a:defRPr>
            </a:pPr>
            <a:r>
              <a:t>07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2DBB20-43D3-94BC-EF96-7BECAFDBE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53"/>
          <a:stretch>
            <a:fillRect/>
          </a:stretch>
        </p:blipFill>
        <p:spPr>
          <a:xfrm>
            <a:off x="150234" y="1079753"/>
            <a:ext cx="6410460" cy="35078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Hybrid Architecture &amp; Intelligent Operational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C8D6E5"/>
                </a:solidFill>
              </a:defRPr>
            </a:pPr>
            <a:r>
              <a:t>PortOptimizer utilizes a high-performance Hybrid Architecture combining Predictive Machine Learning with Explainable Optimization Logic, rather than relying on independent black-box models for scheduling operations.</a:t>
            </a:r>
          </a:p>
          <a:p>
            <a:pPr>
              <a:spcAft>
                <a:spcPts val="1000"/>
              </a:spcAft>
              <a:defRPr sz="1400" b="1">
                <a:solidFill>
                  <a:srgbClr val="0096FF"/>
                </a:solidFill>
              </a:defRPr>
            </a:pPr>
            <a:r>
              <a:t>CORE DATA &amp; OPERATIONAL LIFECYCLE FLOW: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1. Data Ingestion &amp; Storage: Real-time Vessel / Port Operational Data extracted and managed inside MongoDB Atlas.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2. AI Predictive Analytics: Feature Engineering &amp; Machine Learning (Random Forest) to output the Congestion Risk Score.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3. Explainable Optimization Logic: The generated risk indices feed directly into mathematical decision frameworks for Routing Recommendations, Berth Allocation, and Crane Optimization.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4. Master Plan Compilation: Integration of all optimal vectors into a non-overlapping greedy 72-Hour Operations Plan.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5. Application Interface: Delivered via an enterprise FastAPI backend connected directly to a high-fidelity React frontend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C757D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884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KHUSHAL VADHER</cp:lastModifiedBy>
  <cp:revision>2</cp:revision>
  <dcterms:created xsi:type="dcterms:W3CDTF">2013-01-27T09:14:16Z</dcterms:created>
  <dcterms:modified xsi:type="dcterms:W3CDTF">2026-09-15T18:08:43Z</dcterms:modified>
  <cp:category/>
</cp:coreProperties>
</file>